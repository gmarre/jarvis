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64" r:id="rId5"/>
    <p:sldId id="268" r:id="rId6"/>
    <p:sldId id="299" r:id="rId7"/>
    <p:sldId id="301" r:id="rId8"/>
    <p:sldId id="279" r:id="rId9"/>
    <p:sldId id="282" r:id="rId10"/>
    <p:sldId id="300" r:id="rId11"/>
    <p:sldId id="293" r:id="rId12"/>
    <p:sldId id="296" r:id="rId13"/>
    <p:sldId id="29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75" d="100"/>
          <a:sy n="75" d="100"/>
        </p:scale>
        <p:origin x="5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fr-FR" sz="1600"/>
              <a:t>CA mensuel Année 1 (€)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CA</c:v>
          </c:tx>
          <c:spPr>
            <a:solidFill>
              <a:srgbClr val="17A8A0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Mai</c:v>
              </c:pt>
              <c:pt idx="1">
                <c:v>Juin</c:v>
              </c:pt>
              <c:pt idx="2">
                <c:v>Juil.+Août</c:v>
              </c:pt>
              <c:pt idx="3">
                <c:v>Sept.</c:v>
              </c:pt>
              <c:pt idx="4">
                <c:v>Oct.</c:v>
              </c:pt>
              <c:pt idx="5">
                <c:v>Nov.</c:v>
              </c:pt>
              <c:pt idx="6">
                <c:v>Déc.</c:v>
              </c:pt>
              <c:pt idx="7">
                <c:v>Janv.</c:v>
              </c:pt>
              <c:pt idx="8">
                <c:v>Fév.+Mars</c:v>
              </c:pt>
              <c:pt idx="9">
                <c:v>Avr.</c:v>
              </c:pt>
            </c:strLit>
          </c:cat>
          <c:val>
            <c:numLit>
              <c:formatCode>General</c:formatCode>
              <c:ptCount val="10"/>
              <c:pt idx="0">
                <c:v>13600</c:v>
              </c:pt>
              <c:pt idx="1">
                <c:v>12040</c:v>
              </c:pt>
              <c:pt idx="2">
                <c:v>97500</c:v>
              </c:pt>
              <c:pt idx="3">
                <c:v>12040</c:v>
              </c:pt>
              <c:pt idx="4">
                <c:v>0</c:v>
              </c:pt>
              <c:pt idx="5">
                <c:v>0</c:v>
              </c:pt>
              <c:pt idx="6">
                <c:v>12040</c:v>
              </c:pt>
              <c:pt idx="7">
                <c:v>12040</c:v>
              </c:pt>
              <c:pt idx="8">
                <c:v>60200</c:v>
              </c:pt>
              <c:pt idx="9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BAB-43AA-BAA2-3DB805ADB0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11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2700000"/>
          <a:lstStyle/>
          <a:p>
            <a:pPr>
              <a:defRPr sz="1000"/>
            </a:pPr>
            <a:endParaRPr lang="fr-FR"/>
          </a:p>
        </c:txPr>
        <c:crossAx val="112"/>
        <c:crosses val="autoZero"/>
        <c:auto val="1"/>
        <c:lblAlgn val="ctr"/>
        <c:lblOffset val="100"/>
        <c:noMultiLvlLbl val="1"/>
      </c:catAx>
      <c:valAx>
        <c:axId val="1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fr-FR" sz="1600"/>
              <a:t>Répartition du CA par offre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CA</c:v>
          </c:tx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5"/>
              <c:pt idx="0">
                <c:v>Cabines (LAZY-EXPERT)</c:v>
              </c:pt>
              <c:pt idx="1">
                <c:v>Privatisations</c:v>
              </c:pt>
              <c:pt idx="2">
                <c:v>Stages plongée</c:v>
              </c:pt>
              <c:pt idx="3">
                <c:v>Nuits de couple</c:v>
              </c:pt>
              <c:pt idx="4">
                <c:v>Nuits privatisées</c:v>
              </c:pt>
            </c:strLit>
          </c:cat>
          <c:val>
            <c:numLit>
              <c:formatCode>General</c:formatCode>
              <c:ptCount val="5"/>
              <c:pt idx="0">
                <c:v>119000</c:v>
              </c:pt>
              <c:pt idx="1">
                <c:v>38700</c:v>
              </c:pt>
              <c:pt idx="2">
                <c:v>39600</c:v>
              </c:pt>
              <c:pt idx="3">
                <c:v>13260</c:v>
              </c:pt>
              <c:pt idx="4">
                <c:v>8900</c:v>
              </c:pt>
            </c:numLit>
          </c:val>
          <c:extLst>
            <c:ext xmlns:c16="http://schemas.microsoft.com/office/drawing/2014/chart" uri="{C3380CC4-5D6E-409C-BE32-E72D297353CC}">
              <c16:uniqueId val="{00000000-B21B-426D-BBE1-F5A7AB56EE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100"/>
          </a:pPr>
          <a:endParaRPr lang="fr-FR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fr-FR" sz="1600"/>
              <a:t>Structure de financement — 340 000 €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v>Financement</c:v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C126-4D34-9D93-E5692CF8FD89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3-C126-4D34-9D93-E5692CF8FD89}"/>
              </c:ext>
            </c:extLst>
          </c:dPt>
          <c:dLbls>
            <c:spPr>
              <a:noFill/>
            </c:spPr>
            <c:txPr>
              <a:bodyPr/>
              <a:lstStyle/>
              <a:p>
                <a:pPr>
                  <a:defRPr sz="1400" b="1">
                    <a:solidFill>
                      <a:schemeClr val="bg1"/>
                    </a:solidFill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Apport (50 000 €)</c:v>
              </c:pt>
              <c:pt idx="1">
                <c:v>Prêt bancaire (290 000 €)</c:v>
              </c:pt>
            </c:strLit>
          </c:cat>
          <c:val>
            <c:numLit>
              <c:formatCode>General</c:formatCode>
              <c:ptCount val="2"/>
              <c:pt idx="0">
                <c:v>50000</c:v>
              </c:pt>
              <c:pt idx="1">
                <c:v>290000</c:v>
              </c:pt>
            </c:numLit>
          </c:val>
          <c:extLst>
            <c:ext xmlns:c16="http://schemas.microsoft.com/office/drawing/2014/chart" uri="{C3380CC4-5D6E-409C-BE32-E72D297353CC}">
              <c16:uniqueId val="{00000004-C126-4D34-9D93-E5692CF8FD8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1"/>
          <c:showLeaderLines val="1"/>
        </c:dLbls>
        <c:firstSliceAng val="0"/>
        <c:holeSize val="55"/>
      </c:doughnutChart>
    </c:plotArea>
    <c:legend>
      <c:legendPos val="b"/>
      <c:overlay val="0"/>
      <c:txPr>
        <a:bodyPr/>
        <a:lstStyle/>
        <a:p>
          <a:pPr>
            <a:defRPr sz="1400"/>
          </a:pPr>
          <a:endParaRPr lang="fr-FR"/>
        </a:p>
      </c:txPr>
    </c:legend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r>
              <a:rPr lang="fr-FR" sz="1600"/>
              <a:t>Chiffre d'affaires &amp; EBITDA (€)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CA</c:v>
          </c:tx>
          <c:spPr>
            <a:solidFill>
              <a:srgbClr val="123A5E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An 1</c:v>
              </c:pt>
              <c:pt idx="1">
                <c:v>An 2</c:v>
              </c:pt>
              <c:pt idx="2">
                <c:v>An 3</c:v>
              </c:pt>
              <c:pt idx="3">
                <c:v>An 4</c:v>
              </c:pt>
              <c:pt idx="4">
                <c:v>An 5</c:v>
              </c:pt>
            </c:strLit>
          </c:cat>
          <c:val>
            <c:numLit>
              <c:formatCode>#,##0</c:formatCode>
              <c:ptCount val="5"/>
              <c:pt idx="0">
                <c:v>219460</c:v>
              </c:pt>
              <c:pt idx="1">
                <c:v>249900</c:v>
              </c:pt>
              <c:pt idx="2">
                <c:v>299880</c:v>
              </c:pt>
              <c:pt idx="3">
                <c:v>324870</c:v>
              </c:pt>
              <c:pt idx="4">
                <c:v>349860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77A-49D1-8A23-86D032727D0B}"/>
            </c:ext>
          </c:extLst>
        </c:ser>
        <c:ser>
          <c:idx val="1"/>
          <c:order val="1"/>
          <c:tx>
            <c:v>EBITDA</c:v>
          </c:tx>
          <c:spPr>
            <a:solidFill>
              <a:srgbClr val="17A8A0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An 1</c:v>
              </c:pt>
              <c:pt idx="1">
                <c:v>An 2</c:v>
              </c:pt>
              <c:pt idx="2">
                <c:v>An 3</c:v>
              </c:pt>
              <c:pt idx="3">
                <c:v>An 4</c:v>
              </c:pt>
              <c:pt idx="4">
                <c:v>An 5</c:v>
              </c:pt>
            </c:strLit>
          </c:cat>
          <c:val>
            <c:numLit>
              <c:formatCode>#,##0</c:formatCode>
              <c:ptCount val="5"/>
              <c:pt idx="0">
                <c:v>118560</c:v>
              </c:pt>
              <c:pt idx="1">
                <c:v>145754</c:v>
              </c:pt>
              <c:pt idx="2">
                <c:v>190405</c:v>
              </c:pt>
              <c:pt idx="3">
                <c:v>212731</c:v>
              </c:pt>
              <c:pt idx="4">
                <c:v>235056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77A-49D1-8A23-86D032727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1"/>
        <c:axId val="11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fr-FR"/>
          </a:p>
        </c:txPr>
        <c:crossAx val="112"/>
        <c:crosses val="autoZero"/>
        <c:auto val="1"/>
        <c:lblAlgn val="ctr"/>
        <c:lblOffset val="100"/>
        <c:noMultiLvlLbl val="1"/>
      </c:catAx>
      <c:valAx>
        <c:axId val="112"/>
        <c:scaling>
          <c:orientation val="minMax"/>
        </c:scaling>
        <c:delete val="0"/>
        <c:axPos val="l"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fr-FR"/>
          </a:p>
        </c:txPr>
        <c:crossAx val="1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fr-FR"/>
        </a:p>
      </c:txPr>
    </c:legend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r>
              <a:rPr lang="fr-FR" sz="1600"/>
              <a:t>DSCR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DSCR</c:v>
          </c:tx>
          <c:spPr>
            <a:ln w="28000">
              <a:solidFill>
                <a:schemeClr val="accent2"/>
              </a:solidFill>
            </a:ln>
          </c:spPr>
          <c:marker>
            <c:symbol val="circle"/>
            <c:size val="6"/>
            <c:spPr>
              <a:solidFill>
                <a:schemeClr val="accent2"/>
              </a:solidFill>
            </c:spPr>
          </c:marker>
          <c:dLbls>
            <c:numFmt formatCode="0.00&quot;x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An 1</c:v>
              </c:pt>
              <c:pt idx="1">
                <c:v>An 2</c:v>
              </c:pt>
              <c:pt idx="2">
                <c:v>An 3</c:v>
              </c:pt>
              <c:pt idx="3">
                <c:v>An 4</c:v>
              </c:pt>
              <c:pt idx="4">
                <c:v>An 5</c:v>
              </c:pt>
            </c:strLit>
          </c:cat>
          <c:val>
            <c:numLit>
              <c:formatCode>0.00"x"</c:formatCode>
              <c:ptCount val="5"/>
              <c:pt idx="0">
                <c:v>4.3099999999999996</c:v>
              </c:pt>
              <c:pt idx="1">
                <c:v>5.3</c:v>
              </c:pt>
              <c:pt idx="2">
                <c:v>6.92</c:v>
              </c:pt>
              <c:pt idx="3">
                <c:v>7.73</c:v>
              </c:pt>
              <c:pt idx="4">
                <c:v>8.5399999999999991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1E9-406D-B947-882E6013AA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"/>
        <c:axId val="212"/>
      </c:lineChart>
      <c:catAx>
        <c:axId val="2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fr-FR"/>
          </a:p>
        </c:txPr>
        <c:crossAx val="212"/>
        <c:crosses val="autoZero"/>
        <c:auto val="1"/>
        <c:lblAlgn val="ctr"/>
        <c:lblOffset val="100"/>
        <c:noMultiLvlLbl val="1"/>
      </c:catAx>
      <c:valAx>
        <c:axId val="212"/>
        <c:scaling>
          <c:orientation val="minMax"/>
        </c:scaling>
        <c:delete val="1"/>
        <c:axPos val="l"/>
        <c:numFmt formatCode="0.00&quot;x&quot;" sourceLinked="1"/>
        <c:majorTickMark val="out"/>
        <c:minorTickMark val="none"/>
        <c:tickLblPos val="nextTo"/>
        <c:crossAx val="2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fr-FR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US">
                <a:solidFill>
                  <a:schemeClr val="lt1"/>
                </a:solidFill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US">
                <a:solidFill>
                  <a:schemeClr val="lt1"/>
                </a:solidFill>
              </a:rP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37A2730A-859E-B540-ADF3-E97069AD1FDB}" type="datetimeFigureOut">
              <a:rPr lang="en-US" smtClean="0">
                <a:solidFill>
                  <a:schemeClr val="lt1"/>
                </a:solidFill>
              </a:rPr>
              <a:t>7/3/2026</a:t>
            </a:fld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8E05DC9C-C50D-D242-B083-59CEE07163F1}" type="slidenum">
              <a:rPr lang="en-US" smtClean="0">
                <a:solidFill>
                  <a:schemeClr val="lt1"/>
                </a:solidFill>
              </a:rPr>
              <a:t>‹N°›</a:t>
            </a:fld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US">
                <a:solidFill>
                  <a:schemeClr val="lt1"/>
                </a:solidFill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>
                <a:solidFill>
                  <a:schemeClr val="lt1"/>
                </a:solidFill>
              </a:rPr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37A2730A-859E-B540-ADF3-E97069AD1FDB}" type="datetimeFigureOut">
              <a:rPr lang="en-US" smtClean="0">
                <a:solidFill>
                  <a:schemeClr val="lt1"/>
                </a:solidFill>
              </a:rPr>
              <a:t>7/3/2026</a:t>
            </a:fld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8E05DC9C-C50D-D242-B083-59CEE07163F1}" type="slidenum">
              <a:rPr lang="en-US" smtClean="0">
                <a:solidFill>
                  <a:schemeClr val="lt1"/>
                </a:solidFill>
              </a:rPr>
              <a:t>‹N°›</a:t>
            </a:fld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  <p:sp>
        <p:nvSpPr>
          <p:cNvPr id="901" name="Decor Horizon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Decor Gold Line"/>
          <p:cNvSpPr/>
          <p:nvPr/>
        </p:nvSpPr>
        <p:spPr>
          <a:xfrm>
            <a:off x="0" y="6642100"/>
            <a:ext cx="12192000" cy="6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dk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9F27A-4E79-BF68-3EA9-D33C56698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8000"/>
            <a:ext cx="9144000" cy="1778000"/>
          </a:xfrm>
        </p:spPr>
        <p:txBody>
          <a:bodyPr/>
          <a:lstStyle/>
          <a:p>
            <a:pPr algn="ctr">
              <a:buNone/>
            </a:pPr>
            <a:r>
              <a:rPr lang="fr-FR" sz="4000" b="1" dirty="0"/>
              <a:t>CHARTER VOILE &amp; PLONGÉE PREMIUM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BECDED6-AF39-A254-DD7C-2FE141392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0000"/>
            <a:ext cx="9144000" cy="1143000"/>
          </a:xfrm>
        </p:spPr>
        <p:txBody>
          <a:bodyPr/>
          <a:lstStyle/>
          <a:p>
            <a:pPr algn="ctr">
              <a:buNone/>
            </a:pPr>
            <a:r>
              <a:rPr lang="fr-FR" sz="2000" b="1" dirty="0">
                <a:solidFill>
                  <a:schemeClr val="accent4"/>
                </a:solidFill>
              </a:rPr>
              <a:t>Lagoon 42 — Méditerranée &amp; Martinique</a:t>
            </a:r>
          </a:p>
          <a:p>
            <a:pPr algn="ctr">
              <a:buNone/>
            </a:pPr>
            <a:r>
              <a:rPr lang="fr-FR" sz="1600" dirty="0"/>
              <a:t>Dossier de financement  ·  Formule NUC — 6 passagers</a:t>
            </a:r>
          </a:p>
        </p:txBody>
      </p:sp>
      <p:pic>
        <p:nvPicPr>
          <p:cNvPr id="4" name="Graphic 4" descr="Sailboa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07000" y="5207000"/>
            <a:ext cx="558800" cy="558800"/>
          </a:xfrm>
          <a:prstGeom prst="rect">
            <a:avLst/>
          </a:prstGeom>
        </p:spPr>
      </p:pic>
      <p:pic>
        <p:nvPicPr>
          <p:cNvPr id="5" name="Graphic 5" descr="Scuba div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6200" y="52070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3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56432-85A0-2C90-CD2A-A01157C85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Résumé exécutif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5991158-661F-4B5B-8BC1-5FF69D19AC69}"/>
              </a:ext>
            </a:extLst>
          </p:cNvPr>
          <p:cNvSpPr/>
          <p:nvPr/>
        </p:nvSpPr>
        <p:spPr>
          <a:xfrm>
            <a:off x="838200" y="1905000"/>
            <a:ext cx="2476500" cy="1778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7A8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fr-FR" sz="2200" b="1" dirty="0">
                <a:solidFill>
                  <a:schemeClr val="accent1"/>
                </a:solidFill>
              </a:rPr>
              <a:t>340 000 €</a:t>
            </a:r>
          </a:p>
          <a:p>
            <a:pPr algn="ctr">
              <a:buNone/>
            </a:pPr>
            <a:r>
              <a:rPr lang="fr-FR" sz="1400" dirty="0">
                <a:solidFill>
                  <a:schemeClr val="dk1"/>
                </a:solidFill>
              </a:rPr>
              <a:t>Besoin total (290 000 € prêt / 50 000 € apport)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8127AA3-D3BA-42E1-81BD-500AFD4D0AAD}"/>
              </a:ext>
            </a:extLst>
          </p:cNvPr>
          <p:cNvSpPr/>
          <p:nvPr/>
        </p:nvSpPr>
        <p:spPr>
          <a:xfrm>
            <a:off x="3517900" y="1905000"/>
            <a:ext cx="2476500" cy="1778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7A8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fr-FR" sz="2200" b="1" dirty="0">
                <a:solidFill>
                  <a:schemeClr val="accent1"/>
                </a:solidFill>
              </a:rPr>
              <a:t>4,31x</a:t>
            </a:r>
          </a:p>
          <a:p>
            <a:pPr algn="ctr">
              <a:buNone/>
            </a:pPr>
            <a:r>
              <a:rPr lang="fr-FR" sz="1400" dirty="0">
                <a:solidFill>
                  <a:schemeClr val="dk1"/>
                </a:solidFill>
              </a:rPr>
              <a:t>DSCR Année 1 (scénario réaliste)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D63DB7C-F062-4DDB-9994-DECEF6F67EFD}"/>
              </a:ext>
            </a:extLst>
          </p:cNvPr>
          <p:cNvSpPr/>
          <p:nvPr/>
        </p:nvSpPr>
        <p:spPr>
          <a:xfrm>
            <a:off x="6197600" y="1905000"/>
            <a:ext cx="2476500" cy="1778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7A8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fr-FR" sz="2200" b="1" dirty="0">
                <a:solidFill>
                  <a:schemeClr val="accent1"/>
                </a:solidFill>
              </a:rPr>
              <a:t>219 460 €</a:t>
            </a:r>
          </a:p>
          <a:p>
            <a:pPr algn="ctr">
              <a:buNone/>
            </a:pPr>
            <a:r>
              <a:rPr lang="fr-FR" sz="1400" dirty="0">
                <a:solidFill>
                  <a:schemeClr val="dk1"/>
                </a:solidFill>
              </a:rPr>
              <a:t>Chiffre d'affaires Année 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2D30B86-390B-48C0-B1AC-09124FF8C525}"/>
              </a:ext>
            </a:extLst>
          </p:cNvPr>
          <p:cNvSpPr/>
          <p:nvPr/>
        </p:nvSpPr>
        <p:spPr>
          <a:xfrm>
            <a:off x="8877300" y="1905000"/>
            <a:ext cx="2476500" cy="1778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7A8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fr-FR" sz="2200" b="1" dirty="0">
                <a:solidFill>
                  <a:schemeClr val="accent1"/>
                </a:solidFill>
              </a:rPr>
              <a:t>118 560 €</a:t>
            </a:r>
          </a:p>
          <a:p>
            <a:pPr algn="ctr">
              <a:buNone/>
            </a:pPr>
            <a:r>
              <a:rPr lang="fr-FR" sz="1400" dirty="0">
                <a:solidFill>
                  <a:schemeClr val="dk1"/>
                </a:solidFill>
              </a:rPr>
              <a:t>EBITDA Année 1 (marge 54 %)</a:t>
            </a:r>
          </a:p>
        </p:txBody>
      </p:sp>
      <p:sp>
        <p:nvSpPr>
          <p:cNvPr id="7" name="Highlights">
            <a:extLst>
              <a:ext uri="{FF2B5EF4-FFF2-40B4-BE49-F238E27FC236}">
                <a16:creationId xmlns:a16="http://schemas.microsoft.com/office/drawing/2014/main" id="{7FB893C9-3932-4709-824D-4964ACD3204E}"/>
              </a:ext>
            </a:extLst>
          </p:cNvPr>
          <p:cNvSpPr txBox="1"/>
          <p:nvPr/>
        </p:nvSpPr>
        <p:spPr>
          <a:xfrm>
            <a:off x="838200" y="4064000"/>
            <a:ext cx="105156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Résultat net Année 1 : 81 096 € — rentabilité dès la première année d'exploitation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Taux de remplissage réaliste : 43,9 % (15,37 semaines équivalentes sur 35 vendables)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Trajectoire de croissance : CA Année 5 projeté à 349 860 € (+59 % vs Année 1)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Structure de financement solide : capacité de remboursement large (DSCR &gt; 4x dès l'Année 1)</a:t>
            </a:r>
          </a:p>
        </p:txBody>
      </p:sp>
    </p:spTree>
    <p:extLst>
      <p:ext uri="{BB962C8B-B14F-4D97-AF65-F5344CB8AC3E}">
        <p14:creationId xmlns:p14="http://schemas.microsoft.com/office/powerpoint/2010/main" val="2270285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850E9D-154C-C10E-7FCC-EAA273E6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Le concept et le bateau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704DE2-15CF-BC48-1258-7CD9C149D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0000" cy="4445000"/>
          </a:xfrm>
        </p:spPr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fr-FR" sz="1700" dirty="0"/>
              <a:t>Catamaran Lagoon 42 (2018, acquis d'occasion) — grand espace de vie, confort premium, ligne moderne et marine</a:t>
            </a:r>
          </a:p>
          <a:p>
            <a:pPr marL="228600" indent="-228600">
              <a:buFont typeface="Arial"/>
              <a:buChar char="•"/>
            </a:pPr>
            <a:r>
              <a:rPr lang="fr-FR" sz="1700" dirty="0"/>
              <a:t>Statut NUC (Navire Utilisé à des fins Commerciales) — jusqu'à 6 passagers, conforme aux articles 240-241 du Code des transports</a:t>
            </a:r>
          </a:p>
          <a:p>
            <a:pPr marL="228600" indent="-228600">
              <a:buFont typeface="Arial"/>
              <a:buChar char="•"/>
            </a:pPr>
            <a:r>
              <a:rPr lang="fr-FR" sz="1700" dirty="0"/>
              <a:t>Équipage professionnel permanent à bord : Gauthier, Master 200 GT avec visa de reconnaissance français(gérant) et Marion, monitrice DEJEPS Plongée (co-gérante)</a:t>
            </a:r>
          </a:p>
          <a:p>
            <a:pPr marL="228600" indent="-228600">
              <a:buFont typeface="Arial"/>
              <a:buChar char="•"/>
            </a:pPr>
            <a:r>
              <a:rPr lang="fr-FR" sz="1700" dirty="0"/>
              <a:t>Double expertise voile &amp; plongée : croisières à la semaine, privatisations, stages de plongée encadrés N1/N2</a:t>
            </a:r>
          </a:p>
          <a:p>
            <a:pPr marL="228600" indent="-228600">
              <a:buFont typeface="Arial"/>
              <a:buChar char="•"/>
            </a:pPr>
            <a:r>
              <a:rPr lang="fr-FR" sz="1700" dirty="0"/>
              <a:t>Remise à niveau complète financée : révision moteurs/voiles, équipement de sécurité NUC et matériel plongée professionnel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E733B4A-4649-4EB2-8D83-E4859632317D}"/>
              </a:ext>
            </a:extLst>
          </p:cNvPr>
          <p:cNvSpPr/>
          <p:nvPr/>
        </p:nvSpPr>
        <p:spPr>
          <a:xfrm>
            <a:off x="7620000" y="2032000"/>
            <a:ext cx="3733800" cy="1219200"/>
          </a:xfrm>
          <a:prstGeom prst="roundRect">
            <a:avLst/>
          </a:prstGeom>
          <a:solidFill>
            <a:srgbClr val="F4E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chemeClr val="dk1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C65A1C9-8DEB-4B07-AC82-A5F845ABE133}"/>
              </a:ext>
            </a:extLst>
          </p:cNvPr>
          <p:cNvSpPr/>
          <p:nvPr/>
        </p:nvSpPr>
        <p:spPr>
          <a:xfrm>
            <a:off x="7620000" y="3505200"/>
            <a:ext cx="3733800" cy="1219200"/>
          </a:xfrm>
          <a:prstGeom prst="roundRect">
            <a:avLst/>
          </a:prstGeom>
          <a:solidFill>
            <a:srgbClr val="F4E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chemeClr val="dk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0B6111A-F2F6-46D6-B127-BC3A1CAB448A}"/>
              </a:ext>
            </a:extLst>
          </p:cNvPr>
          <p:cNvSpPr/>
          <p:nvPr/>
        </p:nvSpPr>
        <p:spPr>
          <a:xfrm>
            <a:off x="7620000" y="4978400"/>
            <a:ext cx="3733800" cy="1219200"/>
          </a:xfrm>
          <a:prstGeom prst="roundRect">
            <a:avLst/>
          </a:prstGeom>
          <a:solidFill>
            <a:srgbClr val="F4EF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chemeClr val="dk1"/>
              </a:solidFill>
            </a:endParaRPr>
          </a:p>
        </p:txBody>
      </p:sp>
      <p:pic>
        <p:nvPicPr>
          <p:cNvPr id="7" name="Graphic 7" descr="Passenger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8600" y="2286000"/>
            <a:ext cx="508000" cy="508000"/>
          </a:xfrm>
          <a:prstGeom prst="rect">
            <a:avLst/>
          </a:prstGeom>
        </p:spPr>
      </p:pic>
      <p:pic>
        <p:nvPicPr>
          <p:cNvPr id="8" name="Graphic 8" descr="Cabin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8600" y="3505200"/>
            <a:ext cx="508000" cy="508000"/>
          </a:xfrm>
          <a:prstGeom prst="rect">
            <a:avLst/>
          </a:prstGeom>
        </p:spPr>
      </p:pic>
      <p:pic>
        <p:nvPicPr>
          <p:cNvPr id="9" name="Graphic 9" descr="Crew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8600" y="5232400"/>
            <a:ext cx="508000" cy="508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C383AC9-EF39-4257-B363-F3B8D1912FA2}"/>
              </a:ext>
            </a:extLst>
          </p:cNvPr>
          <p:cNvSpPr txBox="1"/>
          <p:nvPr/>
        </p:nvSpPr>
        <p:spPr>
          <a:xfrm>
            <a:off x="8509000" y="2286000"/>
            <a:ext cx="2667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buNone/>
            </a:pPr>
            <a:r>
              <a:rPr lang="fr-FR" sz="1500" b="1" dirty="0">
                <a:solidFill>
                  <a:schemeClr val="dk1"/>
                </a:solidFill>
              </a:rPr>
              <a:t>6 passagers max</a:t>
            </a:r>
          </a:p>
          <a:p>
            <a:pPr>
              <a:buNone/>
            </a:pPr>
            <a:r>
              <a:rPr lang="fr-FR" sz="1300" dirty="0">
                <a:solidFill>
                  <a:schemeClr val="dk1"/>
                </a:solidFill>
              </a:rPr>
              <a:t>(statut NUC)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3AA702E-CA96-4A4F-9C59-FF2A74BCA155}"/>
              </a:ext>
            </a:extLst>
          </p:cNvPr>
          <p:cNvSpPr txBox="1"/>
          <p:nvPr/>
        </p:nvSpPr>
        <p:spPr>
          <a:xfrm>
            <a:off x="8509000" y="3505200"/>
            <a:ext cx="2667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buNone/>
            </a:pPr>
            <a:r>
              <a:rPr lang="fr-FR" sz="1500" b="1" dirty="0">
                <a:solidFill>
                  <a:schemeClr val="dk1"/>
                </a:solidFill>
              </a:rPr>
              <a:t>4 cabines</a:t>
            </a:r>
          </a:p>
          <a:p>
            <a:pPr>
              <a:buNone/>
            </a:pPr>
            <a:r>
              <a:rPr lang="fr-FR" sz="1300" dirty="0">
                <a:solidFill>
                  <a:schemeClr val="dk1"/>
                </a:solidFill>
              </a:rPr>
              <a:t>confort premium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0C243F8-B80F-48B9-B165-E0AF9A2D2C6D}"/>
              </a:ext>
            </a:extLst>
          </p:cNvPr>
          <p:cNvSpPr txBox="1"/>
          <p:nvPr/>
        </p:nvSpPr>
        <p:spPr>
          <a:xfrm>
            <a:off x="8509000" y="5232400"/>
            <a:ext cx="2667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buNone/>
            </a:pPr>
            <a:r>
              <a:rPr lang="fr-FR" sz="1500" b="1" dirty="0">
                <a:solidFill>
                  <a:schemeClr val="dk1"/>
                </a:solidFill>
              </a:rPr>
              <a:t>2 professionnels</a:t>
            </a:r>
          </a:p>
          <a:p>
            <a:pPr>
              <a:buNone/>
            </a:pPr>
            <a:r>
              <a:rPr lang="fr-FR" sz="1300" dirty="0">
                <a:solidFill>
                  <a:schemeClr val="dk1"/>
                </a:solidFill>
              </a:rPr>
              <a:t>à bord en permanence</a:t>
            </a:r>
          </a:p>
        </p:txBody>
      </p:sp>
    </p:spTree>
    <p:extLst>
      <p:ext uri="{BB962C8B-B14F-4D97-AF65-F5344CB8AC3E}">
        <p14:creationId xmlns:p14="http://schemas.microsoft.com/office/powerpoint/2010/main" val="1684631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6DEC7C-884C-5F87-4F84-78DB2428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Zones d'exploitation et calendrier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91BF8D-F343-4224-A2E3-38729AE364AA}"/>
              </a:ext>
            </a:extLst>
          </p:cNvPr>
          <p:cNvSpPr/>
          <p:nvPr/>
        </p:nvSpPr>
        <p:spPr>
          <a:xfrm>
            <a:off x="838200" y="2667000"/>
            <a:ext cx="850900" cy="889000"/>
          </a:xfrm>
          <a:prstGeom prst="rect">
            <a:avLst/>
          </a:prstGeom>
          <a:solidFill>
            <a:srgbClr val="0A555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MAI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5F48EA-2B8A-4AD0-AB1A-87243125B500}"/>
              </a:ext>
            </a:extLst>
          </p:cNvPr>
          <p:cNvSpPr/>
          <p:nvPr/>
        </p:nvSpPr>
        <p:spPr>
          <a:xfrm>
            <a:off x="1714500" y="2667000"/>
            <a:ext cx="850900" cy="889000"/>
          </a:xfrm>
          <a:prstGeom prst="rect">
            <a:avLst/>
          </a:prstGeom>
          <a:solidFill>
            <a:srgbClr val="0A555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JUIN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574FB-1351-4952-9A12-1CA9115246F5}"/>
              </a:ext>
            </a:extLst>
          </p:cNvPr>
          <p:cNvSpPr/>
          <p:nvPr/>
        </p:nvSpPr>
        <p:spPr>
          <a:xfrm>
            <a:off x="2590800" y="2667000"/>
            <a:ext cx="850900" cy="889000"/>
          </a:xfrm>
          <a:prstGeom prst="rect">
            <a:avLst/>
          </a:prstGeom>
          <a:solidFill>
            <a:srgbClr val="0A555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JUIL.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5AED1B-36C9-4420-A858-E35A3251F412}"/>
              </a:ext>
            </a:extLst>
          </p:cNvPr>
          <p:cNvSpPr/>
          <p:nvPr/>
        </p:nvSpPr>
        <p:spPr>
          <a:xfrm>
            <a:off x="3467100" y="2667000"/>
            <a:ext cx="850900" cy="889000"/>
          </a:xfrm>
          <a:prstGeom prst="rect">
            <a:avLst/>
          </a:prstGeom>
          <a:solidFill>
            <a:srgbClr val="0A555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AOÛT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03F09-A8F3-42AA-B174-21DF4C32968B}"/>
              </a:ext>
            </a:extLst>
          </p:cNvPr>
          <p:cNvSpPr/>
          <p:nvPr/>
        </p:nvSpPr>
        <p:spPr>
          <a:xfrm>
            <a:off x="4343400" y="2667000"/>
            <a:ext cx="850900" cy="889000"/>
          </a:xfrm>
          <a:prstGeom prst="rect">
            <a:avLst/>
          </a:prstGeom>
          <a:solidFill>
            <a:srgbClr val="0A555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SEPT.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13E237-1F6C-4A43-8716-168F2A849DB2}"/>
              </a:ext>
            </a:extLst>
          </p:cNvPr>
          <p:cNvSpPr/>
          <p:nvPr/>
        </p:nvSpPr>
        <p:spPr>
          <a:xfrm>
            <a:off x="5219700" y="2667000"/>
            <a:ext cx="850900" cy="889000"/>
          </a:xfrm>
          <a:prstGeom prst="rect">
            <a:avLst/>
          </a:prstGeom>
          <a:solidFill>
            <a:srgbClr val="6B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OCT.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4E155B-324D-44AF-92C1-787BFB1CEB90}"/>
              </a:ext>
            </a:extLst>
          </p:cNvPr>
          <p:cNvSpPr/>
          <p:nvPr/>
        </p:nvSpPr>
        <p:spPr>
          <a:xfrm>
            <a:off x="6096000" y="2667000"/>
            <a:ext cx="850900" cy="889000"/>
          </a:xfrm>
          <a:prstGeom prst="rect">
            <a:avLst/>
          </a:prstGeom>
          <a:solidFill>
            <a:srgbClr val="6B4F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NOV.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65B0E9-F331-4747-89D2-B02655243ACC}"/>
              </a:ext>
            </a:extLst>
          </p:cNvPr>
          <p:cNvSpPr/>
          <p:nvPr/>
        </p:nvSpPr>
        <p:spPr>
          <a:xfrm>
            <a:off x="6972300" y="2667000"/>
            <a:ext cx="850900" cy="889000"/>
          </a:xfrm>
          <a:prstGeom prst="rect">
            <a:avLst/>
          </a:prstGeom>
          <a:solidFill>
            <a:srgbClr val="123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DÉC.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FAFDFD-D601-497A-A88C-AAF3C7DE4360}"/>
              </a:ext>
            </a:extLst>
          </p:cNvPr>
          <p:cNvSpPr/>
          <p:nvPr/>
        </p:nvSpPr>
        <p:spPr>
          <a:xfrm>
            <a:off x="7848600" y="2667000"/>
            <a:ext cx="850900" cy="889000"/>
          </a:xfrm>
          <a:prstGeom prst="rect">
            <a:avLst/>
          </a:prstGeom>
          <a:solidFill>
            <a:srgbClr val="123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JANV.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05C75D-0708-4CD9-B862-5191876030E2}"/>
              </a:ext>
            </a:extLst>
          </p:cNvPr>
          <p:cNvSpPr/>
          <p:nvPr/>
        </p:nvSpPr>
        <p:spPr>
          <a:xfrm>
            <a:off x="8724900" y="2667000"/>
            <a:ext cx="850900" cy="889000"/>
          </a:xfrm>
          <a:prstGeom prst="rect">
            <a:avLst/>
          </a:prstGeom>
          <a:solidFill>
            <a:srgbClr val="123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FÉV.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238895-2BD3-43B1-9D06-8E8AB582C191}"/>
              </a:ext>
            </a:extLst>
          </p:cNvPr>
          <p:cNvSpPr/>
          <p:nvPr/>
        </p:nvSpPr>
        <p:spPr>
          <a:xfrm>
            <a:off x="9601200" y="2667000"/>
            <a:ext cx="850900" cy="889000"/>
          </a:xfrm>
          <a:prstGeom prst="rect">
            <a:avLst/>
          </a:prstGeom>
          <a:solidFill>
            <a:srgbClr val="123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MARS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2EE37D-AB58-41CC-B76E-9055E5B20FB5}"/>
              </a:ext>
            </a:extLst>
          </p:cNvPr>
          <p:cNvSpPr/>
          <p:nvPr/>
        </p:nvSpPr>
        <p:spPr>
          <a:xfrm>
            <a:off x="10477500" y="2667000"/>
            <a:ext cx="850900" cy="889000"/>
          </a:xfrm>
          <a:prstGeom prst="rect">
            <a:avLst/>
          </a:prstGeom>
          <a:solidFill>
            <a:srgbClr val="6B4F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AVR.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3209B4-F5E9-4D3C-8786-602AA38C0D4E}"/>
              </a:ext>
            </a:extLst>
          </p:cNvPr>
          <p:cNvSpPr/>
          <p:nvPr/>
        </p:nvSpPr>
        <p:spPr>
          <a:xfrm>
            <a:off x="825500" y="3797300"/>
            <a:ext cx="228600" cy="228600"/>
          </a:xfrm>
          <a:prstGeom prst="rect">
            <a:avLst/>
          </a:prstGeom>
          <a:solidFill>
            <a:srgbClr val="0A555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21B3717-C74E-4289-85D5-B3E73BC4A137}"/>
              </a:ext>
            </a:extLst>
          </p:cNvPr>
          <p:cNvSpPr txBox="1"/>
          <p:nvPr/>
        </p:nvSpPr>
        <p:spPr>
          <a:xfrm>
            <a:off x="1117600" y="37592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Méditerranée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4CF12E-CD89-4B20-AA88-62C0E00E1159}"/>
              </a:ext>
            </a:extLst>
          </p:cNvPr>
          <p:cNvSpPr/>
          <p:nvPr/>
        </p:nvSpPr>
        <p:spPr>
          <a:xfrm>
            <a:off x="3136900" y="3797300"/>
            <a:ext cx="228600" cy="228600"/>
          </a:xfrm>
          <a:prstGeom prst="rect">
            <a:avLst/>
          </a:prstGeom>
          <a:solidFill>
            <a:srgbClr val="123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230F777-C257-48B0-AD87-B267F0DEB066}"/>
              </a:ext>
            </a:extLst>
          </p:cNvPr>
          <p:cNvSpPr txBox="1"/>
          <p:nvPr/>
        </p:nvSpPr>
        <p:spPr>
          <a:xfrm>
            <a:off x="3429000" y="37592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Martinique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05BBDB-9CC5-4750-AAD0-DDF8C912C08D}"/>
              </a:ext>
            </a:extLst>
          </p:cNvPr>
          <p:cNvSpPr/>
          <p:nvPr/>
        </p:nvSpPr>
        <p:spPr>
          <a:xfrm>
            <a:off x="5448300" y="3797300"/>
            <a:ext cx="228600" cy="228600"/>
          </a:xfrm>
          <a:prstGeom prst="rect">
            <a:avLst/>
          </a:prstGeom>
          <a:solidFill>
            <a:srgbClr val="6B4F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BA5C499-EA78-42EB-83CB-4519804945CF}"/>
              </a:ext>
            </a:extLst>
          </p:cNvPr>
          <p:cNvSpPr txBox="1"/>
          <p:nvPr/>
        </p:nvSpPr>
        <p:spPr>
          <a:xfrm>
            <a:off x="5740400" y="37592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Transat aller/retour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D2A2D0-4C73-4244-ADBA-4FD6EAF83A5C}"/>
              </a:ext>
            </a:extLst>
          </p:cNvPr>
          <p:cNvSpPr/>
          <p:nvPr/>
        </p:nvSpPr>
        <p:spPr>
          <a:xfrm>
            <a:off x="7759700" y="3797300"/>
            <a:ext cx="228600" cy="228600"/>
          </a:xfrm>
          <a:prstGeom prst="rect">
            <a:avLst/>
          </a:prstGeom>
          <a:solidFill>
            <a:srgbClr val="6B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9206EFD-4B06-430D-84A5-7F96843F9612}"/>
              </a:ext>
            </a:extLst>
          </p:cNvPr>
          <p:cNvSpPr txBox="1"/>
          <p:nvPr/>
        </p:nvSpPr>
        <p:spPr>
          <a:xfrm>
            <a:off x="8051800" y="37592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Repos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A367C89-F49C-4522-9BF1-E79ED1ADA44B}"/>
              </a:ext>
            </a:extLst>
          </p:cNvPr>
          <p:cNvSpPr txBox="1"/>
          <p:nvPr/>
        </p:nvSpPr>
        <p:spPr>
          <a:xfrm>
            <a:off x="838200" y="4445000"/>
            <a:ext cx="105156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Méditerranée (mai–septembre, hors octobre) : croisières côtières à la semaine, et offres à la journée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Martinique (décembre–mars) : haute saison plongée tropicale, clientèle internationale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Transats aller (novembre) et retour (avril) : convoyage du bateau entre les deux zones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Octobre non travaillé : fenêtre d'entretien et de maintenance du bateau</a:t>
            </a:r>
          </a:p>
        </p:txBody>
      </p:sp>
    </p:spTree>
    <p:extLst>
      <p:ext uri="{BB962C8B-B14F-4D97-AF65-F5344CB8AC3E}">
        <p14:creationId xmlns:p14="http://schemas.microsoft.com/office/powerpoint/2010/main" val="2794703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879619-B7A1-C7AB-3FE0-8EA02D2B7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Offre commerciale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A0587CA-7FE1-478E-9D21-9FD7E8DF5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300903"/>
              </p:ext>
            </p:extLst>
          </p:nvPr>
        </p:nvGraphicFramePr>
        <p:xfrm>
          <a:off x="838200" y="1905000"/>
          <a:ext cx="105156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646589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610897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44626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FFFFFF"/>
                          </a:solidFill>
                        </a:rPr>
                        <a:t>Formule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FFFFF"/>
                          </a:solidFill>
                        </a:rPr>
                        <a:t>Tarif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FFFFF"/>
                          </a:solidFill>
                        </a:rPr>
                        <a:t>Plongées incluses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8753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dirty="0">
                          <a:solidFill>
                            <a:srgbClr val="0B2545"/>
                          </a:solidFill>
                        </a:rPr>
                        <a:t>CHILL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2 090 €/pers/sem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86108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DÉCOUVERTE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2 390 €/pers/sem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2388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PASSION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2 590 €/pers/sem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619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EXPERT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2 640 €/pers/sem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73263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Privatisation bateau entier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12 900 €/semaine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option +50 €/plongée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456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Stage plongée N1/N2 (3j, hors saison)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990 €/pers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6810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Nuit de Couple de Rêve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>
                          <a:solidFill>
                            <a:srgbClr val="0B2545"/>
                          </a:solidFill>
                        </a:rPr>
                        <a:t>390 €/pers (1 780 € privatisée)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rgbClr val="0B2545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23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625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E03E8B-BEE5-C856-913C-01C4BCFD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Planning de réservation type — Année 1</a:t>
            </a:r>
          </a:p>
        </p:txBody>
      </p:sp>
      <p:graphicFrame>
        <p:nvGraphicFramePr>
          <p:cNvPr id="101" name="Chart CA mensuel"/>
          <p:cNvGraphicFramePr/>
          <p:nvPr/>
        </p:nvGraphicFramePr>
        <p:xfrm>
          <a:off x="838200" y="18288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2" name="Chart Répartition offre"/>
          <p:cNvGraphicFramePr/>
          <p:nvPr/>
        </p:nvGraphicFramePr>
        <p:xfrm>
          <a:off x="6553200" y="1828800"/>
          <a:ext cx="3886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6864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DF310A-1781-2169-68FB-A4A360077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Équipe dirigeante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C9CE68-12AF-BB34-8129-778AF7AEB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40000"/>
            <a:ext cx="5181600" cy="3644900"/>
          </a:xfrm>
        </p:spPr>
        <p:txBody>
          <a:bodyPr/>
          <a:lstStyle/>
          <a:p>
            <a:pPr>
              <a:buNone/>
            </a:pPr>
            <a:r>
              <a:rPr lang="fr-FR" sz="2200" b="1" dirty="0">
                <a:solidFill>
                  <a:schemeClr val="accent1"/>
                </a:solidFill>
              </a:rPr>
              <a:t>Gauthier</a:t>
            </a:r>
          </a:p>
          <a:p>
            <a:pPr>
              <a:buNone/>
            </a:pPr>
            <a:r>
              <a:rPr lang="fr-FR" sz="1600" i="1" dirty="0">
                <a:solidFill>
                  <a:schemeClr val="dk1"/>
                </a:solidFill>
              </a:rPr>
              <a:t>Gérant / Capitaine (Capitaine 200 en cours)</a:t>
            </a:r>
          </a:p>
          <a:p>
            <a:pPr>
              <a:buNone/>
            </a:pPr>
            <a:endParaRPr lang="fr-FR" sz="800"/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Responsable de la navigation, de la sécurité et de la conformité NUC du bateau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Formation Capitaine 200 financée dans le plan d'investissement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Supervision des opérations, de la relation clients et de la gestion administrative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CD8138-6FDD-D89F-CB92-A48E069B3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40000"/>
            <a:ext cx="5181600" cy="3644900"/>
          </a:xfrm>
        </p:spPr>
        <p:txBody>
          <a:bodyPr/>
          <a:lstStyle/>
          <a:p>
            <a:pPr>
              <a:buNone/>
            </a:pPr>
            <a:r>
              <a:rPr lang="fr-FR" sz="2200" b="1" dirty="0">
                <a:solidFill>
                  <a:schemeClr val="accent1"/>
                </a:solidFill>
              </a:rPr>
              <a:t>Marion</a:t>
            </a:r>
          </a:p>
          <a:p>
            <a:pPr>
              <a:buNone/>
            </a:pPr>
            <a:r>
              <a:rPr lang="fr-FR" sz="1600" i="1" dirty="0">
                <a:solidFill>
                  <a:schemeClr val="dk1"/>
                </a:solidFill>
              </a:rPr>
              <a:t>Monitrice / Co-gérante (DEJEPS Plongée)</a:t>
            </a:r>
          </a:p>
          <a:p>
            <a:pPr>
              <a:buNone/>
            </a:pPr>
            <a:endParaRPr lang="fr-FR" sz="800"/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Encadrement des plongées et des stages N1/N2 à bord (DEJEPS Plongée)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Responsable de la sécurité subaquatique et du matériel de plongée</a:t>
            </a:r>
          </a:p>
          <a:p>
            <a:pPr marL="228600" indent="-228600">
              <a:buFont typeface="Arial"/>
              <a:buChar char="•"/>
            </a:pPr>
            <a:r>
              <a:rPr lang="fr-FR" sz="1600" dirty="0">
                <a:solidFill>
                  <a:schemeClr val="dk1"/>
                </a:solidFill>
              </a:rPr>
              <a:t>Co-gestion de l'activité : offre commerciale, accueil et suivi clientèle</a:t>
            </a:r>
          </a:p>
        </p:txBody>
      </p:sp>
      <p:pic>
        <p:nvPicPr>
          <p:cNvPr id="5" name="Graphic 5" descr="Captai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828800"/>
            <a:ext cx="609600" cy="609600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4452B389-3E6A-4224-A549-D3E6E9792E28}"/>
              </a:ext>
            </a:extLst>
          </p:cNvPr>
          <p:cNvSpPr/>
          <p:nvPr/>
        </p:nvSpPr>
        <p:spPr>
          <a:xfrm>
            <a:off x="6172200" y="1828800"/>
            <a:ext cx="609600" cy="609600"/>
          </a:xfrm>
          <a:prstGeom prst="ellipse">
            <a:avLst/>
          </a:prstGeom>
          <a:solidFill>
            <a:srgbClr val="17A8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chemeClr val="dk1"/>
              </a:solidFill>
            </a:endParaRPr>
          </a:p>
        </p:txBody>
      </p:sp>
      <p:sp>
        <p:nvSpPr>
          <p:cNvPr id="8" name="Larme 7">
            <a:extLst>
              <a:ext uri="{FF2B5EF4-FFF2-40B4-BE49-F238E27FC236}">
                <a16:creationId xmlns:a16="http://schemas.microsoft.com/office/drawing/2014/main" id="{8A31CDFE-1A2D-448D-AAF7-1B5268A0FA38}"/>
              </a:ext>
            </a:extLst>
          </p:cNvPr>
          <p:cNvSpPr/>
          <p:nvPr/>
        </p:nvSpPr>
        <p:spPr>
          <a:xfrm rot="8100000">
            <a:off x="6350000" y="1981200"/>
            <a:ext cx="254000" cy="304800"/>
          </a:xfrm>
          <a:prstGeom prst="teardrop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65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F5F8A-BCE0-38F6-A729-3A5DEBAD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Plan d'investissement et de financement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A657147-A04A-4629-A7AD-14B6314E87D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32000"/>
          <a:ext cx="5461000" cy="328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267287980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43877961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FFFFFF"/>
                          </a:solidFill>
                        </a:rPr>
                        <a:t>Poste d'investissement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1">
                          <a:solidFill>
                            <a:srgbClr val="FFFFFF"/>
                          </a:solidFill>
                        </a:rPr>
                        <a:t>Montant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71407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/>
                        <a:t>Bateau (achat + expertise + remise en état + équipement NUC)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/>
                        <a:t>277 000 €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62805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/>
                        <a:t>Formations (Capitaine 200 + DEJEPS + divers)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/>
                        <a:t>25 000 €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31633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/>
                        <a:t>Matériel plongée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/>
                        <a:t>18 000 €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71975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/>
                        <a:t>Trésorerie de départ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0"/>
                        <a:t>20 000 €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30642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/>
                        <a:t>TOTAL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400" b="1"/>
                        <a:t>340 000 €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21151"/>
                  </a:ext>
                </a:extLst>
              </a:tr>
            </a:tbl>
          </a:graphicData>
        </a:graphic>
      </p:graphicFrame>
      <p:graphicFrame>
        <p:nvGraphicFramePr>
          <p:cNvPr id="101" name="Chart 1"/>
          <p:cNvGraphicFramePr/>
          <p:nvPr/>
        </p:nvGraphicFramePr>
        <p:xfrm>
          <a:off x="6731000" y="2032000"/>
          <a:ext cx="44704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LoanTerms">
            <a:extLst>
              <a:ext uri="{FF2B5EF4-FFF2-40B4-BE49-F238E27FC236}">
                <a16:creationId xmlns:a16="http://schemas.microsoft.com/office/drawing/2014/main" id="{9387612A-C280-4A0E-B299-C4FC198C3D31}"/>
              </a:ext>
            </a:extLst>
          </p:cNvPr>
          <p:cNvSpPr txBox="1"/>
          <p:nvPr/>
        </p:nvSpPr>
        <p:spPr>
          <a:xfrm>
            <a:off x="6731000" y="4826000"/>
            <a:ext cx="4622800" cy="12464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fr-FR" sz="1500" dirty="0">
                <a:solidFill>
                  <a:schemeClr val="dk1"/>
                </a:solidFill>
              </a:rPr>
              <a:t>Prêt bancaire : 290 000 € sur 15 ans, taux fixe 5,00 %</a:t>
            </a:r>
          </a:p>
          <a:p>
            <a:pPr marL="228600" indent="-228600">
              <a:buFont typeface="Arial"/>
              <a:buChar char="•"/>
            </a:pPr>
            <a:r>
              <a:rPr lang="fr-FR" sz="1500" dirty="0">
                <a:solidFill>
                  <a:schemeClr val="dk1"/>
                </a:solidFill>
              </a:rPr>
              <a:t>Mensualité : 2 293,30 € — Annuité : 27 519,62 €</a:t>
            </a:r>
          </a:p>
          <a:p>
            <a:pPr marL="228600" indent="-228600">
              <a:buFont typeface="Arial"/>
              <a:buChar char="•"/>
            </a:pPr>
            <a:r>
              <a:rPr lang="fr-FR" sz="1500" dirty="0">
                <a:solidFill>
                  <a:schemeClr val="dk1"/>
                </a:solidFill>
              </a:rPr>
              <a:t>Apport personnel : 50 000 € (14,7 % du besoin total)</a:t>
            </a:r>
          </a:p>
        </p:txBody>
      </p:sp>
    </p:spTree>
    <p:extLst>
      <p:ext uri="{BB962C8B-B14F-4D97-AF65-F5344CB8AC3E}">
        <p14:creationId xmlns:p14="http://schemas.microsoft.com/office/powerpoint/2010/main" val="143706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8E2C30-752A-5C2E-1FBF-AC4166A5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Projections financières — 5 ans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838200" y="1854200"/>
          <a:ext cx="6096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2" name="Chart 2"/>
          <p:cNvGraphicFramePr/>
          <p:nvPr/>
        </p:nvGraphicFramePr>
        <p:xfrm>
          <a:off x="7112000" y="1854200"/>
          <a:ext cx="4445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B3F63E4-0FD8-4A5E-AE7E-8694053BF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799035"/>
              </p:ext>
            </p:extLst>
          </p:nvPr>
        </p:nvGraphicFramePr>
        <p:xfrm>
          <a:off x="838200" y="4445000"/>
          <a:ext cx="10515600" cy="1946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841333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082641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597435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682999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FFFFFF"/>
                          </a:solidFill>
                        </a:rPr>
                        <a:t>Année 1 — Scénarios de sensibilité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FFFFF"/>
                          </a:solidFill>
                        </a:rPr>
                        <a:t>Pessimiste (25%)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FFFFF"/>
                          </a:solidFill>
                        </a:rPr>
                        <a:t>Réaliste (43,9%)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FFFFF"/>
                          </a:solidFill>
                        </a:rPr>
                        <a:t>Optimiste (55%)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68783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fr-FR" sz="1400" b="1"/>
                        <a:t>Chiffre d'affaires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/>
                        <a:t>122 363 €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/>
                        <a:t>219 460 €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/>
                        <a:t>269 198 €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048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fr-FR" sz="1400" b="1"/>
                        <a:t>EBITDA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/>
                        <a:t>32 613 €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/>
                        <a:t>118 560 €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/>
                        <a:t>164 748 €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98419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fr-FR" sz="1400" b="1"/>
                        <a:t>DSCR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/>
                        <a:t>1,19x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/>
                        <a:t>4,31x</a:t>
                      </a:r>
                    </a:p>
                  </a:txBody>
                  <a:tcPr anchor="ctr"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/>
                        <a:t>5,99x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211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361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8F0957-89D3-4045-BA94-38FC9B7B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fr-FR" sz="3600" b="1" dirty="0"/>
              <a:t>Demande de financement : 340 000 €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16F97E-E676-3385-F057-35556B9A7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fr-FR" sz="1800" dirty="0">
                <a:solidFill>
                  <a:schemeClr val="accent4"/>
                </a:solidFill>
              </a:rPr>
              <a:t>290 000 € de prêt bancaire (15 ans, 5,00 %) + 50 000 € d'apport personnel</a:t>
            </a:r>
          </a:p>
          <a:p>
            <a:pPr algn="ctr">
              <a:buNone/>
            </a:pPr>
            <a:r>
              <a:rPr lang="fr-FR" sz="1600" dirty="0"/>
              <a:t>DSCR 4,31x dès l'Année 1  ·  Équipe qualifiée (Capitaine 200 &amp; DEJEPS)  ·  Positionnement NUC premium sur deux façades maritimes</a:t>
            </a:r>
          </a:p>
        </p:txBody>
      </p:sp>
    </p:spTree>
    <p:extLst>
      <p:ext uri="{BB962C8B-B14F-4D97-AF65-F5344CB8AC3E}">
        <p14:creationId xmlns:p14="http://schemas.microsoft.com/office/powerpoint/2010/main" val="887771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060970411]">
  <a:themeElements>
    <a:clrScheme name="Office">
      <a:dk1>
        <a:srgbClr val="0B2545"/>
      </a:dk1>
      <a:lt1>
        <a:srgbClr val="FFFFFF"/>
      </a:lt1>
      <a:dk2>
        <a:srgbClr val="07162C"/>
      </a:dk2>
      <a:lt2>
        <a:srgbClr val="F4EFE3"/>
      </a:lt2>
      <a:accent1>
        <a:srgbClr val="17A8A0"/>
      </a:accent1>
      <a:accent2>
        <a:srgbClr val="C9A15C"/>
      </a:accent2>
      <a:accent3>
        <a:srgbClr val="2C6E8E"/>
      </a:accent3>
      <a:accent4>
        <a:srgbClr val="E8C77A"/>
      </a:accent4>
      <a:accent5>
        <a:srgbClr val="123A5E"/>
      </a:accent5>
      <a:accent6>
        <a:srgbClr val="5FBFB9"/>
      </a:accent6>
      <a:hlink>
        <a:srgbClr val="0563C1"/>
      </a:hlink>
      <a:folHlink>
        <a:srgbClr val="954F72"/>
      </a:folHlink>
    </a:clrScheme>
    <a:fontScheme name="Office">
      <a:majorFont>
        <a:latin typeface="Lato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05e3e8-94cb-41cd-9764-7c8da793b5d7}">
  <we:reference id="WA200010001" version="1.0.0.1" store="en-US" storeType="OMEX"/>
  <we:alternateReferences/>
  <we:properties>
    <we:property name="Microsoft.Office.CampaignId" value="&quot;none&quot;"/>
    <we:property name="claude.fileId" value="&quot;6910fd82-1231-45ad-8208-ffe6ab9e46b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8066</TotalTime>
  <Words>756</Words>
  <Application>Microsoft Office PowerPoint</Application>
  <PresentationFormat>Grand écran</PresentationFormat>
  <Paragraphs>129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Lato</vt:lpstr>
      <vt:lpstr>Office Theme [1783060970411]</vt:lpstr>
      <vt:lpstr>CHARTER VOILE &amp; PLONGÉE PREMIUM</vt:lpstr>
      <vt:lpstr>Résumé exécutif</vt:lpstr>
      <vt:lpstr>Le concept et le bateau</vt:lpstr>
      <vt:lpstr>Zones d'exploitation et calendrier</vt:lpstr>
      <vt:lpstr>Offre commerciale</vt:lpstr>
      <vt:lpstr>Planning de réservation type — Année 1</vt:lpstr>
      <vt:lpstr>Équipe dirigeante</vt:lpstr>
      <vt:lpstr>Plan d'investissement et de financement</vt:lpstr>
      <vt:lpstr>Projections financières — 5 ans</vt:lpstr>
      <vt:lpstr>Demande de financement : 340 000 €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Gauthier MARRE</cp:lastModifiedBy>
  <cp:revision>10</cp:revision>
  <dcterms:created xsi:type="dcterms:W3CDTF">2018-06-07T21:39:02Z</dcterms:created>
  <dcterms:modified xsi:type="dcterms:W3CDTF">2026-07-07T18:40:28Z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